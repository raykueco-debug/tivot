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B2A36"/>
                </a:solidFill>
                <a:latin typeface="Calibri"/>
              </a:rPr>
              <a:t>鏡湖（暫名）— 地圖拓樸提案　10 格・9 邊・樹狀（環 0）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Calibri"/>
              </a:rPr>
              <a:t>⚠ 這是提案 —— 直接在這張投影片上拖方塊／改字。連線是「接點」，拖方塊會跟著走；要增刪節點看第 2 頁那張表比較快。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04307" y="932688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16181B"/>
          </a:solidFill>
          <a:ln w="31750">
            <a:solidFill>
              <a:srgbClr val="161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黑石碑</a:t>
            </a:r>
          </a:p>
          <a:p>
            <a:pPr algn="ctr"/>
            <a:r>
              <a:rPr sz="900">
                <a:solidFill>
                  <a:srgbClr val="D8E4EA"/>
                </a:solidFill>
                <a:latin typeface="Calibri"/>
              </a:rPr>
              <a:t>monolith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5467" y="108813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7A858E"/>
                </a:solidFill>
                <a:latin typeface="Calibri"/>
              </a:rPr>
              <a:t>終點・符文發光差分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04307" y="1828800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1C5E7A"/>
          </a:solidFill>
          <a:ln w="19050">
            <a:solidFill>
              <a:srgbClr val="1C5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湖心石堤</a:t>
            </a:r>
          </a:p>
          <a:p>
            <a:pPr algn="ctr"/>
            <a:r>
              <a:rPr sz="900">
                <a:solidFill>
                  <a:srgbClr val="D8E4EA"/>
                </a:solidFill>
                <a:latin typeface="Calibri"/>
              </a:rPr>
              <a:t>causeway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5347" y="2724912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E4E9EC"/>
          </a:solidFill>
          <a:ln w="19050">
            <a:solidFill>
              <a:srgbClr val="8A8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B2A36"/>
                </a:solidFill>
                <a:latin typeface="Calibri"/>
              </a:rPr>
              <a:t>水蝕洞</a:t>
            </a:r>
          </a:p>
          <a:p>
            <a:pPr algn="ctr"/>
            <a:r>
              <a:rPr sz="900">
                <a:solidFill>
                  <a:srgbClr val="6E7B85"/>
                </a:solidFill>
                <a:latin typeface="Calibri"/>
              </a:rPr>
              <a:t>cave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4307" y="2724912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1C5E7A"/>
          </a:solidFill>
          <a:ln w="19050">
            <a:solidFill>
              <a:srgbClr val="1C5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北岸</a:t>
            </a:r>
          </a:p>
          <a:p>
            <a:pPr algn="ctr"/>
            <a:r>
              <a:rPr sz="900">
                <a:solidFill>
                  <a:srgbClr val="D8E4EA"/>
                </a:solidFill>
                <a:latin typeface="Calibri"/>
              </a:rPr>
              <a:t>northshore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3267" y="2724912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E4E9EC"/>
          </a:solidFill>
          <a:ln w="19050">
            <a:solidFill>
              <a:srgbClr val="8A8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B2A36"/>
                </a:solidFill>
                <a:latin typeface="Calibri"/>
              </a:rPr>
              <a:t>瀑布底</a:t>
            </a:r>
          </a:p>
          <a:p>
            <a:pPr algn="ctr"/>
            <a:r>
              <a:rPr sz="900">
                <a:solidFill>
                  <a:srgbClr val="6E7B85"/>
                </a:solidFill>
                <a:latin typeface="Calibri"/>
              </a:rPr>
              <a:t>fallbase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4307" y="3621024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1C5E7A"/>
          </a:solidFill>
          <a:ln w="19050">
            <a:solidFill>
              <a:srgbClr val="1C5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東岸</a:t>
            </a:r>
          </a:p>
          <a:p>
            <a:pPr algn="ctr"/>
            <a:r>
              <a:rPr sz="900">
                <a:solidFill>
                  <a:srgbClr val="D8E4EA"/>
                </a:solidFill>
                <a:latin typeface="Calibri"/>
              </a:rPr>
              <a:t>eastshore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3267" y="3621024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E4E9EC"/>
          </a:solidFill>
          <a:ln w="19050">
            <a:solidFill>
              <a:srgbClr val="8A8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B2A36"/>
                </a:solidFill>
                <a:latin typeface="Calibri"/>
              </a:rPr>
              <a:t>廢船屋</a:t>
            </a:r>
          </a:p>
          <a:p>
            <a:pPr algn="ctr"/>
            <a:r>
              <a:rPr sz="900">
                <a:solidFill>
                  <a:srgbClr val="6E7B85"/>
                </a:solidFill>
                <a:latin typeface="Calibri"/>
              </a:rPr>
              <a:t>boathouse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347" y="4517136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E4E9EC"/>
          </a:solidFill>
          <a:ln w="19050">
            <a:solidFill>
              <a:srgbClr val="8A8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1B2A36"/>
                </a:solidFill>
                <a:latin typeface="Calibri"/>
              </a:rPr>
              <a:t>倒木灣</a:t>
            </a:r>
          </a:p>
          <a:p>
            <a:pPr algn="ctr"/>
            <a:r>
              <a:rPr sz="900">
                <a:solidFill>
                  <a:srgbClr val="6E7B85"/>
                </a:solidFill>
                <a:latin typeface="Calibri"/>
              </a:rPr>
              <a:t>deadfall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4307" y="4517136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1C5E7A"/>
          </a:solidFill>
          <a:ln w="19050">
            <a:solidFill>
              <a:srgbClr val="1C5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碎石灘</a:t>
            </a:r>
          </a:p>
          <a:p>
            <a:pPr algn="ctr"/>
            <a:r>
              <a:rPr sz="900">
                <a:solidFill>
                  <a:srgbClr val="D8E4EA"/>
                </a:solidFill>
                <a:latin typeface="Calibri"/>
              </a:rPr>
              <a:t>shingle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4307" y="5413248"/>
            <a:ext cx="1783080" cy="566928"/>
          </a:xfrm>
          <a:prstGeom prst="roundRect">
            <a:avLst>
              <a:gd name="adj" fmla="val 14000"/>
            </a:avLst>
          </a:prstGeom>
          <a:solidFill>
            <a:srgbClr val="3E7D4F"/>
          </a:solidFill>
          <a:ln w="19050">
            <a:solidFill>
              <a:srgbClr val="3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山口</a:t>
            </a:r>
          </a:p>
          <a:p>
            <a:pPr algn="ctr"/>
            <a:r>
              <a:rPr sz="900">
                <a:solidFill>
                  <a:srgbClr val="D8E4EA"/>
                </a:solidFill>
                <a:latin typeface="Calibri"/>
              </a:rPr>
              <a:t>inlet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5467" y="556869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7A858E"/>
                </a:solidFill>
                <a:latin typeface="Calibri"/>
              </a:rPr>
              <a:t>入口・不可有戰鬥</a:t>
            </a:r>
          </a:p>
        </p:txBody>
      </p:sp>
      <p:cxnSp>
        <p:nvCxnSpPr>
          <p:cNvPr id="16" name="Connector 15"/>
          <p:cNvCxnSpPr>
            <a:stCxn id="14" idx="0"/>
            <a:endCxn id="13" idx="2"/>
          </p:cNvCxnSpPr>
          <p:nvPr/>
        </p:nvCxnSpPr>
        <p:spPr>
          <a:xfrm flipH="1" flipV="1">
            <a:off x="6095847" y="5084064"/>
            <a:ext cx="0" cy="329184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14135" y="5111495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up</a:t>
            </a:r>
          </a:p>
        </p:txBody>
      </p:sp>
      <p:cxnSp>
        <p:nvCxnSpPr>
          <p:cNvPr id="18" name="Connector 17"/>
          <p:cNvCxnSpPr>
            <a:stCxn id="13" idx="1"/>
            <a:endCxn id="12" idx="3"/>
          </p:cNvCxnSpPr>
          <p:nvPr/>
        </p:nvCxnSpPr>
        <p:spPr>
          <a:xfrm flipH="1" flipV="1">
            <a:off x="3878427" y="4800600"/>
            <a:ext cx="1325880" cy="0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48759" y="4462271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left</a:t>
            </a:r>
          </a:p>
        </p:txBody>
      </p:sp>
      <p:cxnSp>
        <p:nvCxnSpPr>
          <p:cNvPr id="20" name="Connector 19"/>
          <p:cNvCxnSpPr>
            <a:stCxn id="13" idx="0"/>
            <a:endCxn id="10" idx="2"/>
          </p:cNvCxnSpPr>
          <p:nvPr/>
        </p:nvCxnSpPr>
        <p:spPr>
          <a:xfrm flipH="1" flipV="1">
            <a:off x="6095847" y="4187952"/>
            <a:ext cx="0" cy="329184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14135" y="4215383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up</a:t>
            </a:r>
          </a:p>
        </p:txBody>
      </p:sp>
      <p:cxnSp>
        <p:nvCxnSpPr>
          <p:cNvPr id="22" name="Connector 21"/>
          <p:cNvCxnSpPr>
            <a:stCxn id="10" idx="3"/>
            <a:endCxn id="11" idx="1"/>
          </p:cNvCxnSpPr>
          <p:nvPr/>
        </p:nvCxnSpPr>
        <p:spPr>
          <a:xfrm flipV="1">
            <a:off x="6987387" y="3904488"/>
            <a:ext cx="1325880" cy="0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57719" y="3566160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right</a:t>
            </a:r>
          </a:p>
        </p:txBody>
      </p:sp>
      <p:cxnSp>
        <p:nvCxnSpPr>
          <p:cNvPr id="24" name="Connector 23"/>
          <p:cNvCxnSpPr>
            <a:stCxn id="10" idx="0"/>
            <a:endCxn id="8" idx="2"/>
          </p:cNvCxnSpPr>
          <p:nvPr/>
        </p:nvCxnSpPr>
        <p:spPr>
          <a:xfrm flipH="1" flipV="1">
            <a:off x="6095847" y="3291840"/>
            <a:ext cx="0" cy="329184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14135" y="3319272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up</a:t>
            </a:r>
          </a:p>
        </p:txBody>
      </p:sp>
      <p:cxnSp>
        <p:nvCxnSpPr>
          <p:cNvPr id="26" name="Connector 25"/>
          <p:cNvCxnSpPr>
            <a:stCxn id="8" idx="1"/>
            <a:endCxn id="7" idx="3"/>
          </p:cNvCxnSpPr>
          <p:nvPr/>
        </p:nvCxnSpPr>
        <p:spPr>
          <a:xfrm flipH="1" flipV="1">
            <a:off x="3878427" y="3008376"/>
            <a:ext cx="1325880" cy="0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48759" y="2670048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left</a:t>
            </a:r>
          </a:p>
        </p:txBody>
      </p:sp>
      <p:cxnSp>
        <p:nvCxnSpPr>
          <p:cNvPr id="28" name="Connector 27"/>
          <p:cNvCxnSpPr>
            <a:stCxn id="8" idx="3"/>
            <a:endCxn id="9" idx="1"/>
          </p:cNvCxnSpPr>
          <p:nvPr/>
        </p:nvCxnSpPr>
        <p:spPr>
          <a:xfrm flipV="1">
            <a:off x="6987387" y="3008376"/>
            <a:ext cx="1325880" cy="0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57719" y="2670048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right</a:t>
            </a:r>
          </a:p>
        </p:txBody>
      </p:sp>
      <p:cxnSp>
        <p:nvCxnSpPr>
          <p:cNvPr id="30" name="Connector 29"/>
          <p:cNvCxnSpPr>
            <a:stCxn id="8" idx="0"/>
            <a:endCxn id="6" idx="2"/>
          </p:cNvCxnSpPr>
          <p:nvPr/>
        </p:nvCxnSpPr>
        <p:spPr>
          <a:xfrm flipH="1" flipV="1">
            <a:off x="6095847" y="2395728"/>
            <a:ext cx="0" cy="329184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114135" y="2423160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up</a:t>
            </a:r>
          </a:p>
        </p:txBody>
      </p:sp>
      <p:cxnSp>
        <p:nvCxnSpPr>
          <p:cNvPr id="32" name="Connector 31"/>
          <p:cNvCxnSpPr>
            <a:stCxn id="6" idx="0"/>
            <a:endCxn id="4" idx="2"/>
          </p:cNvCxnSpPr>
          <p:nvPr/>
        </p:nvCxnSpPr>
        <p:spPr>
          <a:xfrm flipH="1" flipV="1">
            <a:off x="6095847" y="1499616"/>
            <a:ext cx="0" cy="329184"/>
          </a:xfrm>
          <a:prstGeom prst="line">
            <a:avLst/>
          </a:prstGeom>
          <a:ln w="25400">
            <a:solidFill>
              <a:srgbClr val="6E7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14135" y="1527048"/>
            <a:ext cx="585216" cy="27432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6525C"/>
                </a:solidFill>
                <a:latin typeface="Calibri"/>
              </a:rPr>
              <a:t>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272784"/>
            <a:ext cx="237744" cy="237744"/>
          </a:xfrm>
          <a:prstGeom prst="roundRect">
            <a:avLst/>
          </a:prstGeom>
          <a:solidFill>
            <a:srgbClr val="1C5E7A"/>
          </a:solidFill>
          <a:ln>
            <a:solidFill>
              <a:srgbClr val="1C5E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625449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2A36"/>
                </a:solidFill>
                <a:latin typeface="Calibri"/>
              </a:rPr>
              <a:t>主軸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91056" y="6272784"/>
            <a:ext cx="237744" cy="237744"/>
          </a:xfrm>
          <a:prstGeom prst="roundRect">
            <a:avLst/>
          </a:prstGeom>
          <a:solidFill>
            <a:srgbClr val="8A8F95"/>
          </a:solidFill>
          <a:ln>
            <a:solidFill>
              <a:srgbClr val="8A8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83664" y="625449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2A36"/>
                </a:solidFill>
                <a:latin typeface="Calibri"/>
              </a:rPr>
              <a:t>死路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15184" y="6272784"/>
            <a:ext cx="237744" cy="237744"/>
          </a:xfrm>
          <a:prstGeom prst="roundRect">
            <a:avLst/>
          </a:prstGeom>
          <a:solidFill>
            <a:srgbClr val="3E7D4F"/>
          </a:solidFill>
          <a:ln>
            <a:solidFill>
              <a:srgbClr val="3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7792" y="625449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2A36"/>
                </a:solidFill>
                <a:latin typeface="Calibri"/>
              </a:rPr>
              <a:t>入口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39312" y="6272784"/>
            <a:ext cx="237744" cy="237744"/>
          </a:xfrm>
          <a:prstGeom prst="roundRect">
            <a:avLst/>
          </a:prstGeom>
          <a:solidFill>
            <a:srgbClr val="16181B"/>
          </a:solidFill>
          <a:ln>
            <a:solidFill>
              <a:srgbClr val="1618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625449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B2A36"/>
                </a:solidFill>
                <a:latin typeface="Calibri"/>
              </a:rPr>
              <a:t>終點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6144768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⚠ up ＝走進畫面裡（前進），不是「往高處」。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6437376"/>
            <a:ext cx="63093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Calibri"/>
              </a:rPr>
              <a:t>⚠ 同一條邊的兩端必須相反 —— 末端只寫 back，由引擎現算。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36"/>
                </a:solidFill>
                <a:latin typeface="Calibri"/>
              </a:rPr>
              <a:t>節點表（改這張最快 —— 定案後我照它畫場景圖）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1124712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2606040"/>
                <a:gridCol w="2286000"/>
                <a:gridCol w="406908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節點 id</a:t>
                      </a:r>
                    </a:p>
                  </a:txBody>
                  <a:tcPr>
                    <a:solidFill>
                      <a:srgbClr val="1C5E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中文名</a:t>
                      </a:r>
                    </a:p>
                  </a:txBody>
                  <a:tcPr>
                    <a:solidFill>
                      <a:srgbClr val="1C5E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出口</a:t>
                      </a:r>
                    </a:p>
                  </a:txBody>
                  <a:tcPr>
                    <a:solidFill>
                      <a:srgbClr val="1C5E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背景檔名（暫定前綴 Lake_）</a:t>
                      </a:r>
                    </a:p>
                  </a:txBody>
                  <a:tcPr>
                    <a:solidFill>
                      <a:srgbClr val="1C5E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畫面上要看得見什麼</a:t>
                      </a:r>
                    </a:p>
                  </a:txBody>
                  <a:tcPr>
                    <a:solidFill>
                      <a:srgbClr val="1C5E7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monolith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黑石碑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back→causeway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Lake_Monolith　＋ _glow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終點：石堤盡頭的黑色方柱，正面刻滿縱向符文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causeway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湖心石堤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up→monolith（＋back）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Lake_Causeway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一條窄石堤伸進湖心，兩側都是水；盡頭看得到黑石碑的剪影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cave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水蝕洞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back→northshore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Lake_Cave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死路：岩壁上的水蝕洞口，裡面暗下去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northshore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北岸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up→causeway, left→cave, right→fallbase（＋back）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Lake_Northshore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三岔：左邊岩壁一個洞、右邊一道瀑布、正前方一條石堤伸進湖心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fallbase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瀑布底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back→northshore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Lake_Fallbase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死路：瀑布注入湖面，水霧與碎浪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eastshore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東岸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up→northshore, right→boathouse（＋back）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Lake_Eastshore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沿湖的窄路，右側水邊有座半沉的木屋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boathouse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廢船屋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back→eastshore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Lake_Boathouse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死路：塌了半邊的木造船屋，屋樑伸進水裡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deadfall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倒木灣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back→shingle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Lake_Deadfall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死路：泡在水裡的枯木堆，水色偏濁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shingle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碎石灘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up→eastshore, left→deadfall（＋back）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Lake_Shingle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湖岸的黑灰碎石灘；左邊看得到一片倒木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6"/>
                          </a:solidFill>
                          <a:latin typeface="Calibri"/>
                        </a:rPr>
                        <a:t>inlet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6"/>
                          </a:solidFill>
                          <a:latin typeface="Calibri"/>
                        </a:rPr>
                        <a:t>山口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up→shingle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Lake_Inlet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46525C"/>
                          </a:solidFill>
                          <a:latin typeface="Calibri"/>
                        </a:rPr>
                        <a:t>兩片山壁夾出的隘口，前方第一次看到湖面的一角</a:t>
                      </a:r>
                    </a:p>
                  </a:txBody>
                  <a:tcPr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6672"/>
                </a:solidFill>
                <a:latin typeface="Calibri"/>
              </a:rPr>
              <a:t>⚠ 石碑那一格要兩張：Lake_Monolith（符文是熄的）與 Lake_Monolith_glow（符文發光）—— 狀態差分要放進「基底名」，不能放在時段後面（憲法 §6.5.4，flood 那條同理）。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