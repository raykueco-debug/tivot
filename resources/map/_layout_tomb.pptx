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9100000" cy="19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28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54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sp>
          <p:nvSpPr>
            <p:cNvPr id="37" name="Rectangle 36"/>
            <p:cNvSpPr/>
            <p:nvPr/>
          </p:nvSpPr>
          <p:spPr>
            <a:xfrm>
              <a:off x="6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tomb_scriptorium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抄經房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scriptorium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40" name="Picture 39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sp>
          <p:nvSpPr>
            <p:cNvPr id="43" name="Rectangle 42"/>
            <p:cNvSpPr/>
            <p:nvPr/>
          </p:nvSpPr>
          <p:spPr>
            <a:xfrm>
              <a:off x="18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tomb_confessio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告解所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confessio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6" name="Picture 45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sp>
          <p:nvSpPr>
            <p:cNvPr id="49" name="Rectangle 48"/>
            <p:cNvSpPr/>
            <p:nvPr/>
          </p:nvSpPr>
          <p:spPr>
            <a:xfrm>
              <a:off x="15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tomb_sacristy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法衣室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sacristy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52" name="Picture 51" descr="tomb_apse_da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55" name="Picture 54" descr="tomb_reliqua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58" name="Picture 57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sp>
          <p:nvSpPr>
            <p:cNvPr id="61" name="Rectangle 60"/>
            <p:cNvSpPr/>
            <p:nvPr/>
          </p:nvSpPr>
          <p:spPr>
            <a:xfrm>
              <a:off x="9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tomb_wellyard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井庭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wellyard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64" name="Picture 63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第一道階梯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6300000" y="10200000"/>
            <a:ext cx="1280000" cy="1020000"/>
            <a:chOff x="6300000" y="10200000"/>
            <a:chExt cx="1280000" cy="1020000"/>
          </a:xfrm>
        </p:grpSpPr>
        <p:pic>
          <p:nvPicPr>
            <p:cNvPr id="67" name="Picture 66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00000" y="102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6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70" name="Picture 69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3300000" y="9050000"/>
            <a:ext cx="1280000" cy="1020000"/>
            <a:chOff x="3300000" y="9050000"/>
            <a:chExt cx="1280000" cy="1020000"/>
          </a:xfrm>
        </p:grpSpPr>
        <p:sp>
          <p:nvSpPr>
            <p:cNvPr id="73" name="Rectangle 72"/>
            <p:cNvSpPr/>
            <p:nvPr/>
          </p:nvSpPr>
          <p:spPr>
            <a:xfrm>
              <a:off x="3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tomb_colonnade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列柱廊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colonnade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3300000" y="7900000"/>
            <a:ext cx="1280000" cy="1020000"/>
            <a:chOff x="3300000" y="7900000"/>
            <a:chExt cx="1280000" cy="1020000"/>
          </a:xfrm>
        </p:grpSpPr>
        <p:sp>
          <p:nvSpPr>
            <p:cNvPr id="76" name="Rectangle 75"/>
            <p:cNvSpPr/>
            <p:nvPr/>
          </p:nvSpPr>
          <p:spPr>
            <a:xfrm>
              <a:off x="3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79" name="Picture 78" descr="tomb_cister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6300000" y="6750000"/>
            <a:ext cx="1280000" cy="1020000"/>
            <a:chOff x="6300000" y="6750000"/>
            <a:chExt cx="1280000" cy="1020000"/>
          </a:xfrm>
        </p:grpSpPr>
        <p:sp>
          <p:nvSpPr>
            <p:cNvPr id="82" name="Rectangle 81"/>
            <p:cNvSpPr/>
            <p:nvPr/>
          </p:nvSpPr>
          <p:spPr>
            <a:xfrm>
              <a:off x="6300000" y="67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tomb_waterstair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汲水階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waterstair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85" name="Picture 84" descr="tomb_corr2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10200000"/>
            <a:ext cx="1280000" cy="1020000"/>
            <a:chOff x="9300000" y="10200000"/>
            <a:chExt cx="1280000" cy="1020000"/>
          </a:xfrm>
        </p:grpSpPr>
        <p:pic>
          <p:nvPicPr>
            <p:cNvPr id="88" name="Picture 87" descr="tomb_sump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9300000" y="1020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12300000" y="9050000"/>
            <a:ext cx="1280000" cy="1020000"/>
            <a:chOff x="12300000" y="9050000"/>
            <a:chExt cx="1280000" cy="1020000"/>
          </a:xfrm>
        </p:grpSpPr>
        <p:pic>
          <p:nvPicPr>
            <p:cNvPr id="91" name="Picture 90" descr="tomb_rotunda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2300000" y="905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12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12300000" y="10200000"/>
            <a:ext cx="1280000" cy="1020000"/>
            <a:chOff x="12300000" y="10200000"/>
            <a:chExt cx="1280000" cy="1020000"/>
          </a:xfrm>
        </p:grpSpPr>
        <p:sp>
          <p:nvSpPr>
            <p:cNvPr id="94" name="Rectangle 93"/>
            <p:cNvSpPr/>
            <p:nvPr/>
          </p:nvSpPr>
          <p:spPr>
            <a:xfrm>
              <a:off x="12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tomb_censerroom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2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香爐室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censerroom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5300000" y="9050000"/>
            <a:ext cx="1280000" cy="1020000"/>
            <a:chOff x="15300000" y="9050000"/>
            <a:chExt cx="1280000" cy="1020000"/>
          </a:xfrm>
        </p:grpSpPr>
        <p:pic>
          <p:nvPicPr>
            <p:cNvPr id="97" name="Picture 96" descr="tomb_sarc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5300000" y="905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15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18300000" y="9050000"/>
            <a:ext cx="1280000" cy="1020000"/>
            <a:chOff x="18300000" y="9050000"/>
            <a:chExt cx="1280000" cy="1020000"/>
          </a:xfrm>
        </p:grpSpPr>
        <p:pic>
          <p:nvPicPr>
            <p:cNvPr id="100" name="Picture 99" descr="tomb_ossuary2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8300000" y="90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18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103" name="Picture 102" descr="tomb_kil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106" name="Picture 105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109" name="Picture 108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110" name="TextBox 109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15300000" y="10200000"/>
            <a:ext cx="1280000" cy="1020000"/>
            <a:chOff x="15300000" y="10200000"/>
            <a:chExt cx="1280000" cy="1020000"/>
          </a:xfrm>
        </p:grpSpPr>
        <p:sp>
          <p:nvSpPr>
            <p:cNvPr id="112" name="Rectangle 111"/>
            <p:cNvSpPr/>
            <p:nvPr/>
          </p:nvSpPr>
          <p:spPr>
            <a:xfrm>
              <a:off x="15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tomb_shaft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5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豎井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shaft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21300000" y="9050000"/>
            <a:ext cx="1280000" cy="1020000"/>
            <a:chOff x="21300000" y="9050000"/>
            <a:chExt cx="1280000" cy="1020000"/>
          </a:xfrm>
        </p:grpSpPr>
        <p:sp>
          <p:nvSpPr>
            <p:cNvPr id="115" name="Rectangle 114"/>
            <p:cNvSpPr/>
            <p:nvPr/>
          </p:nvSpPr>
          <p:spPr>
            <a:xfrm>
              <a:off x="21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tomb_urnvault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21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urnvault</a:t>
              </a:r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1300000" y="10200000"/>
            <a:ext cx="1280000" cy="1020000"/>
            <a:chOff x="21300000" y="10200000"/>
            <a:chExt cx="1280000" cy="1020000"/>
          </a:xfrm>
        </p:grpSpPr>
        <p:sp>
          <p:nvSpPr>
            <p:cNvPr id="118" name="Rectangle 117"/>
            <p:cNvSpPr/>
            <p:nvPr/>
          </p:nvSpPr>
          <p:spPr>
            <a:xfrm>
              <a:off x="21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tomb_ashpit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1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灰坑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ashpit</a:t>
              </a:r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18300000" y="10200000"/>
            <a:ext cx="1280000" cy="1020000"/>
            <a:chOff x="18300000" y="10200000"/>
            <a:chExt cx="1280000" cy="1020000"/>
          </a:xfrm>
        </p:grpSpPr>
        <p:sp>
          <p:nvSpPr>
            <p:cNvPr id="121" name="Rectangle 120"/>
            <p:cNvSpPr/>
            <p:nvPr/>
          </p:nvSpPr>
          <p:spPr>
            <a:xfrm>
              <a:off x="18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tomb_graveldrop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18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碎石陷落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graveldrop</a:t>
              </a:r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1300000" y="7900000"/>
            <a:ext cx="1280000" cy="1020000"/>
            <a:chOff x="21300000" y="7900000"/>
            <a:chExt cx="1280000" cy="1020000"/>
          </a:xfrm>
        </p:grpSpPr>
        <p:sp>
          <p:nvSpPr>
            <p:cNvPr id="124" name="Rectangle 123"/>
            <p:cNvSpPr/>
            <p:nvPr/>
          </p:nvSpPr>
          <p:spPr>
            <a:xfrm>
              <a:off x="21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tomb_saltroom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21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saltroom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21300000" y="6750000"/>
            <a:ext cx="1280000" cy="1020000"/>
            <a:chOff x="21300000" y="6750000"/>
            <a:chExt cx="1280000" cy="1020000"/>
          </a:xfrm>
        </p:grpSpPr>
        <p:sp>
          <p:nvSpPr>
            <p:cNvPr id="127" name="Rectangle 126"/>
            <p:cNvSpPr/>
            <p:nvPr/>
          </p:nvSpPr>
          <p:spPr>
            <a:xfrm>
              <a:off x="21300000" y="67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tomb_chimney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21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排煙井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chimney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24300000" y="7900000"/>
            <a:ext cx="1280000" cy="1020000"/>
            <a:chOff x="24300000" y="7900000"/>
            <a:chExt cx="1280000" cy="1020000"/>
          </a:xfrm>
        </p:grpSpPr>
        <p:sp>
          <p:nvSpPr>
            <p:cNvPr id="130" name="Rectangle 129"/>
            <p:cNvSpPr/>
            <p:nvPr/>
          </p:nvSpPr>
          <p:spPr>
            <a:xfrm>
              <a:off x="24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tomb_nitrepit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24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nitrepit</a:t>
              </a:r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4300000" y="9050000"/>
            <a:ext cx="1280000" cy="1020000"/>
            <a:chOff x="24300000" y="9050000"/>
            <a:chExt cx="1280000" cy="1020000"/>
          </a:xfrm>
        </p:grpSpPr>
        <p:sp>
          <p:nvSpPr>
            <p:cNvPr id="133" name="Rectangle 132"/>
            <p:cNvSpPr/>
            <p:nvPr/>
          </p:nvSpPr>
          <p:spPr>
            <a:xfrm>
              <a:off x="24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tomb_masonhall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24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石工長廳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masonhall</a:t>
              </a:r>
            </a:p>
          </p:txBody>
        </p:sp>
      </p:grpSp>
      <p:grpSp>
        <p:nvGrpSpPr>
          <p:cNvPr id="135" name="Group 134"/>
          <p:cNvGrpSpPr/>
          <p:nvPr/>
        </p:nvGrpSpPr>
        <p:grpSpPr>
          <a:xfrm>
            <a:off x="27300000" y="9050000"/>
            <a:ext cx="1280000" cy="1020000"/>
            <a:chOff x="27300000" y="9050000"/>
            <a:chExt cx="1280000" cy="1020000"/>
          </a:xfrm>
        </p:grpSpPr>
        <p:sp>
          <p:nvSpPr>
            <p:cNvPr id="136" name="Rectangle 135"/>
            <p:cNvSpPr/>
            <p:nvPr/>
          </p:nvSpPr>
          <p:spPr>
            <a:xfrm>
              <a:off x="27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tomb_toolniche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27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工具龕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toolniche</a:t>
              </a:r>
            </a:p>
          </p:txBody>
        </p:sp>
      </p:grpSp>
      <p:grpSp>
        <p:nvGrpSpPr>
          <p:cNvPr id="138" name="Group 137"/>
          <p:cNvGrpSpPr/>
          <p:nvPr/>
        </p:nvGrpSpPr>
        <p:grpSpPr>
          <a:xfrm>
            <a:off x="24300000" y="10200000"/>
            <a:ext cx="1280000" cy="1020000"/>
            <a:chOff x="24300000" y="10200000"/>
            <a:chExt cx="1280000" cy="1020000"/>
          </a:xfrm>
        </p:grpSpPr>
        <p:sp>
          <p:nvSpPr>
            <p:cNvPr id="139" name="Rectangle 138"/>
            <p:cNvSpPr/>
            <p:nvPr/>
          </p:nvSpPr>
          <p:spPr>
            <a:xfrm>
              <a:off x="24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tomb_rubble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24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落石堆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rubble</a:t>
              </a:r>
            </a:p>
          </p:txBody>
        </p:sp>
      </p:grpSp>
      <p:grpSp>
        <p:nvGrpSpPr>
          <p:cNvPr id="141" name="Group 140"/>
          <p:cNvGrpSpPr/>
          <p:nvPr/>
        </p:nvGrpSpPr>
        <p:grpSpPr>
          <a:xfrm>
            <a:off x="21300000" y="11350000"/>
            <a:ext cx="1280000" cy="1020000"/>
            <a:chOff x="21300000" y="11350000"/>
            <a:chExt cx="1280000" cy="1020000"/>
          </a:xfrm>
        </p:grpSpPr>
        <p:sp>
          <p:nvSpPr>
            <p:cNvPr id="142" name="Rectangle 141"/>
            <p:cNvSpPr/>
            <p:nvPr/>
          </p:nvSpPr>
          <p:spPr>
            <a:xfrm>
              <a:off x="21300000" y="113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tomb_cryptwalk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21300000" y="120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cryptwalk</a:t>
              </a: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21300000" y="12500000"/>
            <a:ext cx="1280000" cy="1020000"/>
            <a:chOff x="21300000" y="12500000"/>
            <a:chExt cx="1280000" cy="1020000"/>
          </a:xfrm>
        </p:grpSpPr>
        <p:pic>
          <p:nvPicPr>
            <p:cNvPr id="145" name="Picture 144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1300000" y="12500000"/>
              <a:ext cx="1280000" cy="720000"/>
            </a:xfrm>
            <a:prstGeom prst="rect">
              <a:avLst/>
            </a:prstGeom>
          </p:spPr>
        </p:pic>
        <p:sp>
          <p:nvSpPr>
            <p:cNvPr id="146" name="TextBox 145"/>
            <p:cNvSpPr txBox="1"/>
            <p:nvPr/>
          </p:nvSpPr>
          <p:spPr>
            <a:xfrm>
              <a:off x="21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第二道階梯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147" name="Group 146"/>
          <p:cNvGrpSpPr/>
          <p:nvPr/>
        </p:nvGrpSpPr>
        <p:grpSpPr>
          <a:xfrm>
            <a:off x="21300000" y="13650000"/>
            <a:ext cx="1280000" cy="1020000"/>
            <a:chOff x="21300000" y="13650000"/>
            <a:chExt cx="1280000" cy="1020000"/>
          </a:xfrm>
        </p:grpSpPr>
        <p:pic>
          <p:nvPicPr>
            <p:cNvPr id="148" name="Picture 147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21300000" y="13650000"/>
              <a:ext cx="1280000" cy="720000"/>
            </a:xfrm>
            <a:prstGeom prst="rect">
              <a:avLst/>
            </a:prstGeom>
          </p:spPr>
        </p:pic>
        <p:sp>
          <p:nvSpPr>
            <p:cNvPr id="149" name="TextBox 148"/>
            <p:cNvSpPr txBox="1"/>
            <p:nvPr/>
          </p:nvSpPr>
          <p:spPr>
            <a:xfrm>
              <a:off x="21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150" name="Group 149"/>
          <p:cNvGrpSpPr/>
          <p:nvPr/>
        </p:nvGrpSpPr>
        <p:grpSpPr>
          <a:xfrm>
            <a:off x="21300000" y="14800000"/>
            <a:ext cx="1280000" cy="1020000"/>
            <a:chOff x="21300000" y="14800000"/>
            <a:chExt cx="1280000" cy="1020000"/>
          </a:xfrm>
        </p:grpSpPr>
        <p:pic>
          <p:nvPicPr>
            <p:cNvPr id="151" name="Picture 150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21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52" name="TextBox 151"/>
            <p:cNvSpPr txBox="1"/>
            <p:nvPr/>
          </p:nvSpPr>
          <p:spPr>
            <a:xfrm>
              <a:off x="21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153" name="Group 152"/>
          <p:cNvGrpSpPr/>
          <p:nvPr/>
        </p:nvGrpSpPr>
        <p:grpSpPr>
          <a:xfrm>
            <a:off x="24300000" y="14800000"/>
            <a:ext cx="1280000" cy="1020000"/>
            <a:chOff x="24300000" y="14800000"/>
            <a:chExt cx="1280000" cy="1020000"/>
          </a:xfrm>
        </p:grpSpPr>
        <p:pic>
          <p:nvPicPr>
            <p:cNvPr id="154" name="Picture 153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24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55" name="TextBox 154"/>
            <p:cNvSpPr txBox="1"/>
            <p:nvPr/>
          </p:nvSpPr>
          <p:spPr>
            <a:xfrm>
              <a:off x="24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156" name="Group 155"/>
          <p:cNvGrpSpPr/>
          <p:nvPr/>
        </p:nvGrpSpPr>
        <p:grpSpPr>
          <a:xfrm>
            <a:off x="24300000" y="15950000"/>
            <a:ext cx="1280000" cy="1020000"/>
            <a:chOff x="24300000" y="15950000"/>
            <a:chExt cx="1280000" cy="1020000"/>
          </a:xfrm>
        </p:grpSpPr>
        <p:pic>
          <p:nvPicPr>
            <p:cNvPr id="157" name="Picture 156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4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58" name="TextBox 157"/>
            <p:cNvSpPr txBox="1"/>
            <p:nvPr/>
          </p:nvSpPr>
          <p:spPr>
            <a:xfrm>
              <a:off x="24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59" name="Group 158"/>
          <p:cNvGrpSpPr/>
          <p:nvPr/>
        </p:nvGrpSpPr>
        <p:grpSpPr>
          <a:xfrm>
            <a:off x="24300000" y="17100000"/>
            <a:ext cx="1280000" cy="1020000"/>
            <a:chOff x="24300000" y="17100000"/>
            <a:chExt cx="1280000" cy="1020000"/>
          </a:xfrm>
        </p:grpSpPr>
        <p:pic>
          <p:nvPicPr>
            <p:cNvPr id="160" name="Picture 159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4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61" name="TextBox 160"/>
            <p:cNvSpPr txBox="1"/>
            <p:nvPr/>
          </p:nvSpPr>
          <p:spPr>
            <a:xfrm>
              <a:off x="24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62" name="Group 161"/>
          <p:cNvGrpSpPr/>
          <p:nvPr/>
        </p:nvGrpSpPr>
        <p:grpSpPr>
          <a:xfrm>
            <a:off x="21300000" y="15950000"/>
            <a:ext cx="1280000" cy="1020000"/>
            <a:chOff x="21300000" y="15950000"/>
            <a:chExt cx="1280000" cy="1020000"/>
          </a:xfrm>
        </p:grpSpPr>
        <p:pic>
          <p:nvPicPr>
            <p:cNvPr id="163" name="Picture 162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1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64" name="TextBox 163"/>
            <p:cNvSpPr txBox="1"/>
            <p:nvPr/>
          </p:nvSpPr>
          <p:spPr>
            <a:xfrm>
              <a:off x="21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65" name="Connector 164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5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9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6940000" y="1056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6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6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3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6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2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2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2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5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15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8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8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1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21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21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21940000" y="105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18940000" y="105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1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21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24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24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21940000" y="117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21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1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1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1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24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4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