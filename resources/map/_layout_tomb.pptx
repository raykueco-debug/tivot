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9100000" cy="19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285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61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8250000"/>
            <a:ext cx="1280000" cy="1020000"/>
            <a:chOff x="12300000" y="1825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825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7100000"/>
            <a:ext cx="1280000" cy="1020000"/>
            <a:chOff x="15300000" y="1710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7100000"/>
            <a:ext cx="1280000" cy="1020000"/>
            <a:chOff x="18300000" y="1710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5950000"/>
            <a:ext cx="1280000" cy="1020000"/>
            <a:chOff x="9300000" y="1595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7100000"/>
            <a:ext cx="1280000" cy="1020000"/>
            <a:chOff x="6300000" y="1710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710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300000" y="14800000"/>
            <a:ext cx="1280000" cy="1020000"/>
            <a:chOff x="6300000" y="14800000"/>
            <a:chExt cx="1280000" cy="1020000"/>
          </a:xfrm>
        </p:grpSpPr>
        <p:sp>
          <p:nvSpPr>
            <p:cNvPr id="37" name="Rectangle 36"/>
            <p:cNvSpPr/>
            <p:nvPr/>
          </p:nvSpPr>
          <p:spPr>
            <a:xfrm>
              <a:off x="6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tomb_scriptorium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抄經房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scriptorium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4800000"/>
            <a:ext cx="1280000" cy="1020000"/>
            <a:chOff x="15300000" y="14800000"/>
            <a:chExt cx="1280000" cy="1020000"/>
          </a:xfrm>
        </p:grpSpPr>
        <p:pic>
          <p:nvPicPr>
            <p:cNvPr id="40" name="Picture 39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8300000" y="14800000"/>
            <a:ext cx="1280000" cy="1020000"/>
            <a:chOff x="18300000" y="14800000"/>
            <a:chExt cx="1280000" cy="1020000"/>
          </a:xfrm>
        </p:grpSpPr>
        <p:sp>
          <p:nvSpPr>
            <p:cNvPr id="43" name="Rectangle 42"/>
            <p:cNvSpPr/>
            <p:nvPr/>
          </p:nvSpPr>
          <p:spPr>
            <a:xfrm>
              <a:off x="18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tomb_confessio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告解所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confessio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46" name="Picture 45" descr="tomb_ambulatory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5300000" y="12500000"/>
            <a:ext cx="1280000" cy="1020000"/>
            <a:chOff x="15300000" y="12500000"/>
            <a:chExt cx="1280000" cy="1020000"/>
          </a:xfrm>
        </p:grpSpPr>
        <p:sp>
          <p:nvSpPr>
            <p:cNvPr id="49" name="Rectangle 48"/>
            <p:cNvSpPr/>
            <p:nvPr/>
          </p:nvSpPr>
          <p:spPr>
            <a:xfrm>
              <a:off x="15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tomb_sacristy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5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法衣室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sacristy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52" name="Picture 51" descr="tomb_apse_da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55" name="Picture 54" descr="tomb_reliquar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58" name="Picture 57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300000" y="12500000"/>
            <a:ext cx="1280000" cy="1020000"/>
            <a:chOff x="9300000" y="12500000"/>
            <a:chExt cx="1280000" cy="1020000"/>
          </a:xfrm>
        </p:grpSpPr>
        <p:sp>
          <p:nvSpPr>
            <p:cNvPr id="61" name="Rectangle 60"/>
            <p:cNvSpPr/>
            <p:nvPr/>
          </p:nvSpPr>
          <p:spPr>
            <a:xfrm>
              <a:off x="9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tomb_wellyard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井庭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wellyard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6300000" y="13650000"/>
            <a:ext cx="1280000" cy="1020000"/>
            <a:chOff x="6300000" y="13650000"/>
            <a:chExt cx="1280000" cy="1020000"/>
          </a:xfrm>
        </p:grpSpPr>
        <p:pic>
          <p:nvPicPr>
            <p:cNvPr id="64" name="Picture 63" descr="tomb_stair1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300000" y="1365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表層階梯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6300000" y="10200000"/>
            <a:ext cx="1280000" cy="1020000"/>
            <a:chOff x="6300000" y="10200000"/>
            <a:chExt cx="1280000" cy="1020000"/>
          </a:xfrm>
        </p:grpSpPr>
        <p:pic>
          <p:nvPicPr>
            <p:cNvPr id="67" name="Picture 66" descr="tomb_landing2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300000" y="1020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6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6300000" y="9050000"/>
            <a:ext cx="1280000" cy="1020000"/>
            <a:chOff x="6300000" y="9050000"/>
            <a:chExt cx="1280000" cy="1020000"/>
          </a:xfrm>
        </p:grpSpPr>
        <p:pic>
          <p:nvPicPr>
            <p:cNvPr id="70" name="Picture 69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300000" y="905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6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3300000" y="9050000"/>
            <a:ext cx="1280000" cy="1020000"/>
            <a:chOff x="3300000" y="9050000"/>
            <a:chExt cx="1280000" cy="1020000"/>
          </a:xfrm>
        </p:grpSpPr>
        <p:sp>
          <p:nvSpPr>
            <p:cNvPr id="73" name="Rectangle 72"/>
            <p:cNvSpPr/>
            <p:nvPr/>
          </p:nvSpPr>
          <p:spPr>
            <a:xfrm>
              <a:off x="3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tomb_colonnade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列柱廊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colonnade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3300000" y="7900000"/>
            <a:ext cx="1280000" cy="1020000"/>
            <a:chOff x="3300000" y="7900000"/>
            <a:chExt cx="1280000" cy="1020000"/>
          </a:xfrm>
        </p:grpSpPr>
        <p:sp>
          <p:nvSpPr>
            <p:cNvPr id="76" name="Rectangle 75"/>
            <p:cNvSpPr/>
            <p:nvPr/>
          </p:nvSpPr>
          <p:spPr>
            <a:xfrm>
              <a:off x="3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tomb_mason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6300000" y="7900000"/>
            <a:ext cx="1280000" cy="1020000"/>
            <a:chOff x="6300000" y="7900000"/>
            <a:chExt cx="1280000" cy="1020000"/>
          </a:xfrm>
        </p:grpSpPr>
        <p:pic>
          <p:nvPicPr>
            <p:cNvPr id="79" name="Picture 78" descr="tomb_cister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300000" y="790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6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6300000" y="6750000"/>
            <a:ext cx="1280000" cy="1020000"/>
            <a:chOff x="6300000" y="6750000"/>
            <a:chExt cx="1280000" cy="1020000"/>
          </a:xfrm>
        </p:grpSpPr>
        <p:sp>
          <p:nvSpPr>
            <p:cNvPr id="82" name="Rectangle 81"/>
            <p:cNvSpPr/>
            <p:nvPr/>
          </p:nvSpPr>
          <p:spPr>
            <a:xfrm>
              <a:off x="6300000" y="67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tomb_waterstair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汲水階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waterstair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9300000" y="9050000"/>
            <a:ext cx="1280000" cy="1020000"/>
            <a:chOff x="9300000" y="9050000"/>
            <a:chExt cx="1280000" cy="1020000"/>
          </a:xfrm>
        </p:grpSpPr>
        <p:pic>
          <p:nvPicPr>
            <p:cNvPr id="85" name="Picture 84" descr="tomb_corr2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300000" y="905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9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9300000" y="10200000"/>
            <a:ext cx="1280000" cy="1020000"/>
            <a:chOff x="9300000" y="10200000"/>
            <a:chExt cx="1280000" cy="1020000"/>
          </a:xfrm>
        </p:grpSpPr>
        <p:pic>
          <p:nvPicPr>
            <p:cNvPr id="88" name="Picture 87" descr="tomb_sump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9300000" y="1020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9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12300000" y="9050000"/>
            <a:ext cx="1280000" cy="1020000"/>
            <a:chOff x="12300000" y="9050000"/>
            <a:chExt cx="1280000" cy="1020000"/>
          </a:xfrm>
        </p:grpSpPr>
        <p:pic>
          <p:nvPicPr>
            <p:cNvPr id="91" name="Picture 90" descr="tomb_rotunda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2300000" y="905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12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12300000" y="10200000"/>
            <a:ext cx="1280000" cy="1020000"/>
            <a:chOff x="12300000" y="10200000"/>
            <a:chExt cx="1280000" cy="1020000"/>
          </a:xfrm>
        </p:grpSpPr>
        <p:sp>
          <p:nvSpPr>
            <p:cNvPr id="94" name="Rectangle 93"/>
            <p:cNvSpPr/>
            <p:nvPr/>
          </p:nvSpPr>
          <p:spPr>
            <a:xfrm>
              <a:off x="12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tomb_censerroom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2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香爐室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censerroom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5300000" y="9050000"/>
            <a:ext cx="1280000" cy="1020000"/>
            <a:chOff x="15300000" y="9050000"/>
            <a:chExt cx="1280000" cy="1020000"/>
          </a:xfrm>
        </p:grpSpPr>
        <p:pic>
          <p:nvPicPr>
            <p:cNvPr id="97" name="Picture 96" descr="tomb_sarce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5300000" y="905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15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18300000" y="9050000"/>
            <a:ext cx="1280000" cy="1020000"/>
            <a:chOff x="18300000" y="9050000"/>
            <a:chExt cx="1280000" cy="1020000"/>
          </a:xfrm>
        </p:grpSpPr>
        <p:pic>
          <p:nvPicPr>
            <p:cNvPr id="100" name="Picture 99" descr="tomb_ossuary2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8300000" y="905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18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18300000" y="7900000"/>
            <a:ext cx="1280000" cy="1020000"/>
            <a:chOff x="18300000" y="7900000"/>
            <a:chExt cx="1280000" cy="1020000"/>
          </a:xfrm>
        </p:grpSpPr>
        <p:pic>
          <p:nvPicPr>
            <p:cNvPr id="103" name="Picture 102" descr="tomb_kiln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8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18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12300000" y="7900000"/>
            <a:ext cx="1280000" cy="1020000"/>
            <a:chOff x="12300000" y="7900000"/>
            <a:chExt cx="1280000" cy="1020000"/>
          </a:xfrm>
        </p:grpSpPr>
        <p:pic>
          <p:nvPicPr>
            <p:cNvPr id="106" name="Picture 105" descr="tomb_nichehall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12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12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108" name="Group 107"/>
          <p:cNvGrpSpPr/>
          <p:nvPr/>
        </p:nvGrpSpPr>
        <p:grpSpPr>
          <a:xfrm>
            <a:off x="9300000" y="7900000"/>
            <a:ext cx="1280000" cy="1020000"/>
            <a:chOff x="9300000" y="7900000"/>
            <a:chExt cx="1280000" cy="1020000"/>
          </a:xfrm>
        </p:grpSpPr>
        <p:pic>
          <p:nvPicPr>
            <p:cNvPr id="109" name="Picture 108" descr="tomb_ossuary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9300000" y="7900000"/>
              <a:ext cx="1280000" cy="720000"/>
            </a:xfrm>
            <a:prstGeom prst="rect">
              <a:avLst/>
            </a:prstGeom>
          </p:spPr>
        </p:pic>
        <p:sp>
          <p:nvSpPr>
            <p:cNvPr id="110" name="TextBox 109"/>
            <p:cNvSpPr txBox="1"/>
            <p:nvPr/>
          </p:nvSpPr>
          <p:spPr>
            <a:xfrm>
              <a:off x="9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111" name="Group 110"/>
          <p:cNvGrpSpPr/>
          <p:nvPr/>
        </p:nvGrpSpPr>
        <p:grpSpPr>
          <a:xfrm>
            <a:off x="15300000" y="10200000"/>
            <a:ext cx="1280000" cy="1020000"/>
            <a:chOff x="15300000" y="10200000"/>
            <a:chExt cx="1280000" cy="1020000"/>
          </a:xfrm>
        </p:grpSpPr>
        <p:sp>
          <p:nvSpPr>
            <p:cNvPr id="112" name="Rectangle 111"/>
            <p:cNvSpPr/>
            <p:nvPr/>
          </p:nvSpPr>
          <p:spPr>
            <a:xfrm>
              <a:off x="15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tomb_shaft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5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豎井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shaft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21300000" y="9050000"/>
            <a:ext cx="1280000" cy="1020000"/>
            <a:chOff x="21300000" y="9050000"/>
            <a:chExt cx="1280000" cy="1020000"/>
          </a:xfrm>
        </p:grpSpPr>
        <p:sp>
          <p:nvSpPr>
            <p:cNvPr id="115" name="Rectangle 114"/>
            <p:cNvSpPr/>
            <p:nvPr/>
          </p:nvSpPr>
          <p:spPr>
            <a:xfrm>
              <a:off x="21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tomb_urnvault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21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urnvault</a:t>
              </a:r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21300000" y="10200000"/>
            <a:ext cx="1280000" cy="1020000"/>
            <a:chOff x="21300000" y="10200000"/>
            <a:chExt cx="1280000" cy="1020000"/>
          </a:xfrm>
        </p:grpSpPr>
        <p:sp>
          <p:nvSpPr>
            <p:cNvPr id="118" name="Rectangle 117"/>
            <p:cNvSpPr/>
            <p:nvPr/>
          </p:nvSpPr>
          <p:spPr>
            <a:xfrm>
              <a:off x="21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tomb_ashpit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21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灰坑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ashpit</a:t>
              </a:r>
            </a:p>
          </p:txBody>
        </p:sp>
      </p:grpSp>
      <p:grpSp>
        <p:nvGrpSpPr>
          <p:cNvPr id="120" name="Group 119"/>
          <p:cNvGrpSpPr/>
          <p:nvPr/>
        </p:nvGrpSpPr>
        <p:grpSpPr>
          <a:xfrm>
            <a:off x="18300000" y="10200000"/>
            <a:ext cx="1280000" cy="1020000"/>
            <a:chOff x="18300000" y="10200000"/>
            <a:chExt cx="1280000" cy="1020000"/>
          </a:xfrm>
        </p:grpSpPr>
        <p:sp>
          <p:nvSpPr>
            <p:cNvPr id="121" name="Rectangle 120"/>
            <p:cNvSpPr/>
            <p:nvPr/>
          </p:nvSpPr>
          <p:spPr>
            <a:xfrm>
              <a:off x="18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tomb_graveldrop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18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碎石陷落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graveldrop</a:t>
              </a:r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1300000" y="7900000"/>
            <a:ext cx="1280000" cy="1020000"/>
            <a:chOff x="21300000" y="7900000"/>
            <a:chExt cx="1280000" cy="1020000"/>
          </a:xfrm>
        </p:grpSpPr>
        <p:sp>
          <p:nvSpPr>
            <p:cNvPr id="124" name="Rectangle 123"/>
            <p:cNvSpPr/>
            <p:nvPr/>
          </p:nvSpPr>
          <p:spPr>
            <a:xfrm>
              <a:off x="21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tomb_saltroom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21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saltroom</a:t>
              </a:r>
            </a:p>
          </p:txBody>
        </p:sp>
      </p:grpSp>
      <p:grpSp>
        <p:nvGrpSpPr>
          <p:cNvPr id="126" name="Group 125"/>
          <p:cNvGrpSpPr/>
          <p:nvPr/>
        </p:nvGrpSpPr>
        <p:grpSpPr>
          <a:xfrm>
            <a:off x="21300000" y="6750000"/>
            <a:ext cx="1280000" cy="1020000"/>
            <a:chOff x="21300000" y="6750000"/>
            <a:chExt cx="1280000" cy="1020000"/>
          </a:xfrm>
        </p:grpSpPr>
        <p:sp>
          <p:nvSpPr>
            <p:cNvPr id="127" name="Rectangle 126"/>
            <p:cNvSpPr/>
            <p:nvPr/>
          </p:nvSpPr>
          <p:spPr>
            <a:xfrm>
              <a:off x="21300000" y="67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tomb_chimney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21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排煙井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chimney</a:t>
              </a:r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24300000" y="7900000"/>
            <a:ext cx="1280000" cy="1020000"/>
            <a:chOff x="24300000" y="7900000"/>
            <a:chExt cx="1280000" cy="1020000"/>
          </a:xfrm>
        </p:grpSpPr>
        <p:sp>
          <p:nvSpPr>
            <p:cNvPr id="130" name="Rectangle 129"/>
            <p:cNvSpPr/>
            <p:nvPr/>
          </p:nvSpPr>
          <p:spPr>
            <a:xfrm>
              <a:off x="24300000" y="79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tomb_nitrepit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24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nitrepit</a:t>
              </a:r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4300000" y="9050000"/>
            <a:ext cx="1280000" cy="1020000"/>
            <a:chOff x="24300000" y="9050000"/>
            <a:chExt cx="1280000" cy="1020000"/>
          </a:xfrm>
        </p:grpSpPr>
        <p:sp>
          <p:nvSpPr>
            <p:cNvPr id="133" name="Rectangle 132"/>
            <p:cNvSpPr/>
            <p:nvPr/>
          </p:nvSpPr>
          <p:spPr>
            <a:xfrm>
              <a:off x="24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tomb_masonhall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24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石工長廳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masonhall</a:t>
              </a:r>
            </a:p>
          </p:txBody>
        </p:sp>
      </p:grpSp>
      <p:grpSp>
        <p:nvGrpSpPr>
          <p:cNvPr id="135" name="Group 134"/>
          <p:cNvGrpSpPr/>
          <p:nvPr/>
        </p:nvGrpSpPr>
        <p:grpSpPr>
          <a:xfrm>
            <a:off x="27300000" y="9050000"/>
            <a:ext cx="1280000" cy="1020000"/>
            <a:chOff x="27300000" y="9050000"/>
            <a:chExt cx="1280000" cy="1020000"/>
          </a:xfrm>
        </p:grpSpPr>
        <p:sp>
          <p:nvSpPr>
            <p:cNvPr id="136" name="Rectangle 135"/>
            <p:cNvSpPr/>
            <p:nvPr/>
          </p:nvSpPr>
          <p:spPr>
            <a:xfrm>
              <a:off x="27300000" y="90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tomb_toolniche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27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工具龕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toolniche</a:t>
              </a:r>
            </a:p>
          </p:txBody>
        </p:sp>
      </p:grpSp>
      <p:grpSp>
        <p:nvGrpSpPr>
          <p:cNvPr id="138" name="Group 137"/>
          <p:cNvGrpSpPr/>
          <p:nvPr/>
        </p:nvGrpSpPr>
        <p:grpSpPr>
          <a:xfrm>
            <a:off x="24300000" y="10200000"/>
            <a:ext cx="1280000" cy="1020000"/>
            <a:chOff x="24300000" y="10200000"/>
            <a:chExt cx="1280000" cy="1020000"/>
          </a:xfrm>
        </p:grpSpPr>
        <p:sp>
          <p:nvSpPr>
            <p:cNvPr id="139" name="Rectangle 138"/>
            <p:cNvSpPr/>
            <p:nvPr/>
          </p:nvSpPr>
          <p:spPr>
            <a:xfrm>
              <a:off x="24300000" y="102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tomb_rubble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24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落石堆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rubble</a:t>
              </a:r>
            </a:p>
          </p:txBody>
        </p:sp>
      </p:grpSp>
      <p:grpSp>
        <p:nvGrpSpPr>
          <p:cNvPr id="141" name="Group 140"/>
          <p:cNvGrpSpPr/>
          <p:nvPr/>
        </p:nvGrpSpPr>
        <p:grpSpPr>
          <a:xfrm>
            <a:off x="21300000" y="11350000"/>
            <a:ext cx="1280000" cy="1020000"/>
            <a:chOff x="21300000" y="11350000"/>
            <a:chExt cx="1280000" cy="1020000"/>
          </a:xfrm>
        </p:grpSpPr>
        <p:sp>
          <p:nvSpPr>
            <p:cNvPr id="142" name="Rectangle 141"/>
            <p:cNvSpPr/>
            <p:nvPr/>
          </p:nvSpPr>
          <p:spPr>
            <a:xfrm>
              <a:off x="21300000" y="113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tomb_cryptwalk</a:t>
              </a:r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21300000" y="120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cryptwalk</a:t>
              </a: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21300000" y="12500000"/>
            <a:ext cx="1280000" cy="1020000"/>
            <a:chOff x="21300000" y="12500000"/>
            <a:chExt cx="1280000" cy="1020000"/>
          </a:xfrm>
        </p:grpSpPr>
        <p:sp>
          <p:nvSpPr>
            <p:cNvPr id="145" name="Rectangle 144"/>
            <p:cNvSpPr/>
            <p:nvPr/>
          </p:nvSpPr>
          <p:spPr>
            <a:xfrm>
              <a:off x="21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tomb_deepwalk</a:t>
              </a: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21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墓道深處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deepwalk</a:t>
              </a:r>
            </a:p>
          </p:txBody>
        </p:sp>
      </p:grpSp>
      <p:grpSp>
        <p:nvGrpSpPr>
          <p:cNvPr id="147" name="Group 146"/>
          <p:cNvGrpSpPr/>
          <p:nvPr/>
        </p:nvGrpSpPr>
        <p:grpSpPr>
          <a:xfrm>
            <a:off x="18300000" y="12500000"/>
            <a:ext cx="1280000" cy="1020000"/>
            <a:chOff x="18300000" y="12500000"/>
            <a:chExt cx="1280000" cy="1020000"/>
          </a:xfrm>
        </p:grpSpPr>
        <p:sp>
          <p:nvSpPr>
            <p:cNvPr id="148" name="Rectangle 147"/>
            <p:cNvSpPr/>
            <p:nvPr/>
          </p:nvSpPr>
          <p:spPr>
            <a:xfrm>
              <a:off x="18300000" y="125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tomb_brokenhall</a:t>
              </a:r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18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破碎廊道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brokenhall</a:t>
              </a:r>
            </a:p>
          </p:txBody>
        </p:sp>
      </p:grpSp>
      <p:grpSp>
        <p:nvGrpSpPr>
          <p:cNvPr id="150" name="Group 149"/>
          <p:cNvGrpSpPr/>
          <p:nvPr/>
        </p:nvGrpSpPr>
        <p:grpSpPr>
          <a:xfrm>
            <a:off x="21300000" y="14800000"/>
            <a:ext cx="1280000" cy="1020000"/>
            <a:chOff x="21300000" y="14800000"/>
            <a:chExt cx="1280000" cy="1020000"/>
          </a:xfrm>
        </p:grpSpPr>
        <p:sp>
          <p:nvSpPr>
            <p:cNvPr id="151" name="Rectangle 150"/>
            <p:cNvSpPr/>
            <p:nvPr/>
          </p:nvSpPr>
          <p:spPr>
            <a:xfrm>
              <a:off x="21300000" y="1480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tomb_sunkhall</a:t>
              </a:r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21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沉陷廳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sunkhall</a:t>
              </a:r>
            </a:p>
          </p:txBody>
        </p:sp>
      </p:grpSp>
      <p:grpSp>
        <p:nvGrpSpPr>
          <p:cNvPr id="153" name="Group 152"/>
          <p:cNvGrpSpPr/>
          <p:nvPr/>
        </p:nvGrpSpPr>
        <p:grpSpPr>
          <a:xfrm>
            <a:off x="21300000" y="15950000"/>
            <a:ext cx="1280000" cy="1020000"/>
            <a:chOff x="21300000" y="15950000"/>
            <a:chExt cx="1280000" cy="1020000"/>
          </a:xfrm>
        </p:grpSpPr>
        <p:sp>
          <p:nvSpPr>
            <p:cNvPr id="154" name="Rectangle 153"/>
            <p:cNvSpPr/>
            <p:nvPr/>
          </p:nvSpPr>
          <p:spPr>
            <a:xfrm>
              <a:off x="21300000" y="159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tomb_mudpit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21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淤泥坑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mudpit</a:t>
              </a:r>
            </a:p>
          </p:txBody>
        </p:sp>
      </p:grpSp>
      <p:grpSp>
        <p:nvGrpSpPr>
          <p:cNvPr id="156" name="Group 155"/>
          <p:cNvGrpSpPr/>
          <p:nvPr/>
        </p:nvGrpSpPr>
        <p:grpSpPr>
          <a:xfrm>
            <a:off x="21300000" y="13650000"/>
            <a:ext cx="1280000" cy="1020000"/>
            <a:chOff x="21300000" y="13650000"/>
            <a:chExt cx="1280000" cy="1020000"/>
          </a:xfrm>
        </p:grpSpPr>
        <p:sp>
          <p:nvSpPr>
            <p:cNvPr id="157" name="Rectangle 156"/>
            <p:cNvSpPr/>
            <p:nvPr/>
          </p:nvSpPr>
          <p:spPr>
            <a:xfrm>
              <a:off x="21300000" y="136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tomb_crossvault</a:t>
              </a:r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21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十字墓窖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crossvault</a:t>
              </a:r>
            </a:p>
          </p:txBody>
        </p:sp>
      </p:grpSp>
      <p:grpSp>
        <p:nvGrpSpPr>
          <p:cNvPr id="159" name="Group 158"/>
          <p:cNvGrpSpPr/>
          <p:nvPr/>
        </p:nvGrpSpPr>
        <p:grpSpPr>
          <a:xfrm>
            <a:off x="18300000" y="13650000"/>
            <a:ext cx="1280000" cy="1020000"/>
            <a:chOff x="18300000" y="13650000"/>
            <a:chExt cx="1280000" cy="1020000"/>
          </a:xfrm>
        </p:grpSpPr>
        <p:sp>
          <p:nvSpPr>
            <p:cNvPr id="160" name="Rectangle 159"/>
            <p:cNvSpPr/>
            <p:nvPr/>
          </p:nvSpPr>
          <p:spPr>
            <a:xfrm>
              <a:off x="18300000" y="136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tomb_falsestair</a:t>
              </a:r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18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塌陷的階梯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falsestair</a:t>
              </a:r>
            </a:p>
          </p:txBody>
        </p:sp>
      </p:grpSp>
      <p:grpSp>
        <p:nvGrpSpPr>
          <p:cNvPr id="162" name="Group 161"/>
          <p:cNvGrpSpPr/>
          <p:nvPr/>
        </p:nvGrpSpPr>
        <p:grpSpPr>
          <a:xfrm>
            <a:off x="24300000" y="13650000"/>
            <a:ext cx="1280000" cy="1020000"/>
            <a:chOff x="24300000" y="13650000"/>
            <a:chExt cx="1280000" cy="1020000"/>
          </a:xfrm>
        </p:grpSpPr>
        <p:pic>
          <p:nvPicPr>
            <p:cNvPr id="163" name="Picture 162" descr="tomb_stair2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24300000" y="13650000"/>
              <a:ext cx="1280000" cy="720000"/>
            </a:xfrm>
            <a:prstGeom prst="rect">
              <a:avLst/>
            </a:prstGeom>
          </p:spPr>
        </p:pic>
        <p:sp>
          <p:nvSpPr>
            <p:cNvPr id="164" name="TextBox 163"/>
            <p:cNvSpPr txBox="1"/>
            <p:nvPr/>
          </p:nvSpPr>
          <p:spPr>
            <a:xfrm>
              <a:off x="24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165" name="Group 164"/>
          <p:cNvGrpSpPr/>
          <p:nvPr/>
        </p:nvGrpSpPr>
        <p:grpSpPr>
          <a:xfrm>
            <a:off x="24300000" y="14800000"/>
            <a:ext cx="1280000" cy="1020000"/>
            <a:chOff x="24300000" y="14800000"/>
            <a:chExt cx="1280000" cy="1020000"/>
          </a:xfrm>
        </p:grpSpPr>
        <p:pic>
          <p:nvPicPr>
            <p:cNvPr id="166" name="Picture 165" descr="tomb_landing3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24300000" y="14800000"/>
              <a:ext cx="1280000" cy="720000"/>
            </a:xfrm>
            <a:prstGeom prst="rect">
              <a:avLst/>
            </a:prstGeom>
          </p:spPr>
        </p:pic>
        <p:sp>
          <p:nvSpPr>
            <p:cNvPr id="167" name="TextBox 166"/>
            <p:cNvSpPr txBox="1"/>
            <p:nvPr/>
          </p:nvSpPr>
          <p:spPr>
            <a:xfrm>
              <a:off x="24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168" name="Group 167"/>
          <p:cNvGrpSpPr/>
          <p:nvPr/>
        </p:nvGrpSpPr>
        <p:grpSpPr>
          <a:xfrm>
            <a:off x="24300000" y="15950000"/>
            <a:ext cx="1280000" cy="1020000"/>
            <a:chOff x="24300000" y="15950000"/>
            <a:chExt cx="1280000" cy="1020000"/>
          </a:xfrm>
        </p:grpSpPr>
        <p:pic>
          <p:nvPicPr>
            <p:cNvPr id="169" name="Picture 168" descr="tomb_gallery3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24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0" name="TextBox 169"/>
            <p:cNvSpPr txBox="1"/>
            <p:nvPr/>
          </p:nvSpPr>
          <p:spPr>
            <a:xfrm>
              <a:off x="24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171" name="Group 170"/>
          <p:cNvGrpSpPr/>
          <p:nvPr/>
        </p:nvGrpSpPr>
        <p:grpSpPr>
          <a:xfrm>
            <a:off x="27300000" y="15950000"/>
            <a:ext cx="1280000" cy="1020000"/>
            <a:chOff x="27300000" y="15950000"/>
            <a:chExt cx="1280000" cy="1020000"/>
          </a:xfrm>
        </p:grpSpPr>
        <p:pic>
          <p:nvPicPr>
            <p:cNvPr id="172" name="Picture 171" descr="tomb_vaultw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27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3" name="TextBox 172"/>
            <p:cNvSpPr txBox="1"/>
            <p:nvPr/>
          </p:nvSpPr>
          <p:spPr>
            <a:xfrm>
              <a:off x="27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174" name="Group 173"/>
          <p:cNvGrpSpPr/>
          <p:nvPr/>
        </p:nvGrpSpPr>
        <p:grpSpPr>
          <a:xfrm>
            <a:off x="27300000" y="17100000"/>
            <a:ext cx="1280000" cy="1020000"/>
            <a:chOff x="27300000" y="17100000"/>
            <a:chExt cx="1280000" cy="1020000"/>
          </a:xfrm>
        </p:grpSpPr>
        <p:pic>
          <p:nvPicPr>
            <p:cNvPr id="175" name="Picture 174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7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76" name="TextBox 175"/>
            <p:cNvSpPr txBox="1"/>
            <p:nvPr/>
          </p:nvSpPr>
          <p:spPr>
            <a:xfrm>
              <a:off x="27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77" name="Group 176"/>
          <p:cNvGrpSpPr/>
          <p:nvPr/>
        </p:nvGrpSpPr>
        <p:grpSpPr>
          <a:xfrm>
            <a:off x="27300000" y="18250000"/>
            <a:ext cx="1280000" cy="1020000"/>
            <a:chOff x="27300000" y="18250000"/>
            <a:chExt cx="1280000" cy="1020000"/>
          </a:xfrm>
        </p:grpSpPr>
        <p:sp>
          <p:nvSpPr>
            <p:cNvPr id="178" name="Rectangle 177"/>
            <p:cNvSpPr/>
            <p:nvPr/>
          </p:nvSpPr>
          <p:spPr>
            <a:xfrm>
              <a:off x="27300000" y="182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tomb_lowaltar</a:t>
              </a:r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27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底層祭壇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lowaltar</a:t>
              </a:r>
            </a:p>
          </p:txBody>
        </p:sp>
      </p:grpSp>
      <p:grpSp>
        <p:nvGrpSpPr>
          <p:cNvPr id="180" name="Group 179"/>
          <p:cNvGrpSpPr/>
          <p:nvPr/>
        </p:nvGrpSpPr>
        <p:grpSpPr>
          <a:xfrm>
            <a:off x="24300000" y="18250000"/>
            <a:ext cx="1280000" cy="1020000"/>
            <a:chOff x="24300000" y="18250000"/>
            <a:chExt cx="1280000" cy="1020000"/>
          </a:xfrm>
        </p:grpSpPr>
        <p:sp>
          <p:nvSpPr>
            <p:cNvPr id="181" name="Rectangle 180"/>
            <p:cNvSpPr/>
            <p:nvPr/>
          </p:nvSpPr>
          <p:spPr>
            <a:xfrm>
              <a:off x="24300000" y="18250000"/>
              <a:ext cx="1280000" cy="720000"/>
            </a:xfrm>
            <a:prstGeom prst="rect">
              <a:avLst/>
            </a:prstGeom>
            <a:solidFill>
              <a:srgbClr val="3FB950"/>
            </a:solidFill>
            <a:ln>
              <a:solidFill>
                <a:srgbClr val="2B8A3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900" b="1">
                  <a:solidFill>
                    <a:srgbClr val="FFFFFF"/>
                  </a:solidFill>
                </a:rPr>
                <a:t>要補圖</a:t>
              </a:r>
            </a:p>
            <a:p>
              <a:r>
                <a:rPr sz="900" b="1">
                  <a:solidFill>
                    <a:srgbClr val="FFFFFF"/>
                  </a:solidFill>
                </a:rPr>
                <a:t>tomb_adit</a:t>
              </a:r>
            </a:p>
          </p:txBody>
        </p:sp>
        <p:sp>
          <p:nvSpPr>
            <p:cNvPr id="182" name="TextBox 181"/>
            <p:cNvSpPr txBox="1"/>
            <p:nvPr/>
          </p:nvSpPr>
          <p:spPr>
            <a:xfrm>
              <a:off x="24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廢坑道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adit</a:t>
              </a:r>
            </a:p>
          </p:txBody>
        </p:sp>
      </p:grpSp>
      <p:grpSp>
        <p:nvGrpSpPr>
          <p:cNvPr id="183" name="Group 182"/>
          <p:cNvGrpSpPr/>
          <p:nvPr/>
        </p:nvGrpSpPr>
        <p:grpSpPr>
          <a:xfrm>
            <a:off x="24300000" y="17100000"/>
            <a:ext cx="1280000" cy="1020000"/>
            <a:chOff x="24300000" y="17100000"/>
            <a:chExt cx="1280000" cy="1020000"/>
          </a:xfrm>
        </p:grpSpPr>
        <p:pic>
          <p:nvPicPr>
            <p:cNvPr id="184" name="Picture 183" descr="tomb_crypt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4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85" name="TextBox 184"/>
            <p:cNvSpPr txBox="1"/>
            <p:nvPr/>
          </p:nvSpPr>
          <p:spPr>
            <a:xfrm>
              <a:off x="24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86" name="Connector 185"/>
          <p:cNvCxnSpPr/>
          <p:nvPr/>
        </p:nvCxnSpPr>
        <p:spPr>
          <a:xfrm flipV="1">
            <a:off x="12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12940000" y="18610000"/>
            <a:ext cx="12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12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15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8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>
            <a:off x="9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6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2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6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5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5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5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2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6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9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6940000" y="10560000"/>
            <a:ext cx="0" cy="34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6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6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6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6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9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9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12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2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2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5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5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18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8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9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5940000" y="105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21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1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1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1940000" y="105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>
            <a:off x="18940000" y="105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8940000" y="10560000"/>
            <a:ext cx="0" cy="230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21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4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4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1940000" y="117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1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8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1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1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18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24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24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24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24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27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27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>
            <a:off x="24940000" y="186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